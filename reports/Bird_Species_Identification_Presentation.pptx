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a classifier that names the species in a bird photograph. We compared four models, from a small CNN trained from scratch to a frozen DINOv2 feature extractor with logistic regression. Our target was at least 85% test accuracy, and only the DINOv2 model reached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CUB-200-2011 has 11,788 images of 200 bird species, and we kept its official 5,994 / 5,794 train/test split. With only about 25 training images per species, the task is hard. We chose epochs, learning rates and regularisation on the 900-image validation split and touched the test split once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three models are TensorFlow/Keras; the fourth uses a frozen DINOv2 ViT-B/14 from timm with a standardised, multinomial logistic-regression classifier. The regularisation strength C was picked from four values on validation (88.56%, 88.33%, 88.33%, 88.22%), and the strongest regularisation, 0.01, won. DINOv2 feature extraction for all 11,788 images took about 40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top-1 goes from 3.2% for the CNN to 45.8% for frozen MobileNetV2, 57.5% after fine-tuning, and 89.8% for DINOv2 with logistic regression. Fine-tuning mostly helped through the head training; unfreezing added only about 2 points. Validation and test agree closely for every model, so the evaluation looks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app live: upload a photo and show the top-five bars. In the confusion matrix (rows are true species, columns predicted) the errors sit between similar species, such as Long-tailed and Pomarine Jaeger. Example: a Cedar Waxwing is predicted correctly at 78.6%, with the very similar Bohemian Waxwing second at 14.9%.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baseline barely beat chance, frozen MobileNetV2 underfit, and fine-tuning overfit by 33 points; switching to better pretrained features is what finally crossed 85%. Validation (88.6%) and test (89.8%) agree closely. Be honest that DINOv2 is a frozen feature extractor, so our contribution is the classifier and the model comparison. Each of us should be ready to explain any file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spc="150">
                <a:solidFill>
                  <a:srgbClr val="E3A72F"/>
                </a:solidFill>
                <a:latin typeface="Calibri"/>
              </a:rPr>
              <a:t>UE24CS352A · MACHINE LEARNING ·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905000"/>
            <a:ext cx="105664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0">
                <a:solidFill>
                  <a:srgbClr val="F7F3EA"/>
                </a:solidFill>
                <a:latin typeface="Georgia"/>
              </a:rPr>
              <a:t>Bird Species Identification using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4064000"/>
            <a:ext cx="9525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C9D6DF"/>
                </a:solidFill>
                <a:latin typeface="Calibri"/>
              </a:rPr>
              <a:t>Objective: name the species in a bird photograph (200 classes) and reach at least 85% accuracy on the official CUB-200-2011 test split.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5270500"/>
            <a:ext cx="3302000" cy="952500"/>
          </a:xfrm>
          <a:prstGeom prst="roundRect">
            <a:avLst>
              <a:gd name="adj" fmla="val 10666"/>
            </a:avLst>
          </a:prstGeom>
          <a:solidFill>
            <a:srgbClr val="1B3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5270500"/>
            <a:ext cx="50800" cy="952500"/>
          </a:xfrm>
          <a:prstGeom prst="rect">
            <a:avLst/>
          </a:prstGeom>
          <a:solidFill>
            <a:srgbClr val="E3A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800" y="5384800"/>
            <a:ext cx="292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F7F3EA"/>
                </a:solidFill>
                <a:latin typeface="Calibri"/>
              </a:rPr>
              <a:t>Bhavyaa Garg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C9D6DF"/>
                </a:solidFill>
                <a:latin typeface="Calibri"/>
              </a:rPr>
              <a:t>PES1UG24CS116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8000" y="5270500"/>
            <a:ext cx="3302000" cy="952500"/>
          </a:xfrm>
          <a:prstGeom prst="roundRect">
            <a:avLst>
              <a:gd name="adj" fmla="val 10666"/>
            </a:avLst>
          </a:prstGeom>
          <a:solidFill>
            <a:srgbClr val="1B3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8000" y="5270500"/>
            <a:ext cx="50800" cy="952500"/>
          </a:xfrm>
          <a:prstGeom prst="rect">
            <a:avLst/>
          </a:prstGeom>
          <a:solidFill>
            <a:srgbClr val="E3A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5384800"/>
            <a:ext cx="292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F7F3EA"/>
                </a:solidFill>
                <a:latin typeface="Calibri"/>
              </a:rPr>
              <a:t>Bhavesh Velluru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C9D6DF"/>
                </a:solidFill>
                <a:latin typeface="Calibri"/>
              </a:rPr>
              <a:t>PES1UG24CS115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3200" y="5397500"/>
            <a:ext cx="3556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7F3EA"/>
                </a:solidFill>
                <a:latin typeface="Calibri"/>
              </a:rPr>
              <a:t>Section B, CSE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C9D6DF"/>
                </a:solidFill>
                <a:latin typeface="Calibri"/>
              </a:rPr>
              <a:t>PES University,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spc="150">
                <a:solidFill>
                  <a:srgbClr val="8A5A0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12263A"/>
                </a:solidFill>
                <a:latin typeface="Georgia"/>
              </a:rPr>
              <a:t>CUB-200-2011: 200 look-alike species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095500"/>
            <a:ext cx="49530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5740" indent="-205740">
              <a:lnSpc>
                <a:spcPct val="115000"/>
              </a:lnSpc>
              <a:spcAft>
                <a:spcPts val="1100"/>
              </a:spcAft>
              <a:buChar char="•"/>
            </a:pPr>
            <a:r>
              <a:rPr sz="1800" b="0">
                <a:solidFill>
                  <a:srgbClr val="3E4C59"/>
                </a:solidFill>
                <a:latin typeface="Calibri"/>
              </a:rPr>
              <a:t>Official train/test split kept: 5,994 train and 5,794 test images</a:t>
            </a:r>
          </a:p>
          <a:p>
            <a:pPr algn="l" marL="205740" indent="-205740">
              <a:lnSpc>
                <a:spcPct val="115000"/>
              </a:lnSpc>
              <a:spcAft>
                <a:spcPts val="1100"/>
              </a:spcAft>
              <a:buChar char="•"/>
            </a:pPr>
            <a:r>
              <a:rPr sz="1800" b="0">
                <a:solidFill>
                  <a:srgbClr val="3E4C59"/>
                </a:solidFill>
                <a:latin typeface="Calibri"/>
              </a:rPr>
              <a:t>900 validation images (15%) carved from the training split, stratified by class, seed 42</a:t>
            </a:r>
          </a:p>
          <a:p>
            <a:pPr algn="l" marL="205740" indent="-205740">
              <a:lnSpc>
                <a:spcPct val="115000"/>
              </a:lnSpc>
              <a:spcAft>
                <a:spcPts val="1100"/>
              </a:spcAft>
              <a:buChar char="•"/>
            </a:pPr>
            <a:r>
              <a:rPr sz="1800" b="0">
                <a:solidFill>
                  <a:srgbClr val="3E4C59"/>
                </a:solidFill>
                <a:latin typeface="Calibri"/>
              </a:rPr>
              <a:t>All model selection (epochs, learning rates, regularisation) used validation only</a:t>
            </a:r>
          </a:p>
          <a:p>
            <a:pPr algn="l" marL="205740" indent="-205740">
              <a:lnSpc>
                <a:spcPct val="115000"/>
              </a:lnSpc>
              <a:spcAft>
                <a:spcPts val="1100"/>
              </a:spcAft>
              <a:buChar char="•"/>
            </a:pPr>
            <a:r>
              <a:rPr sz="1800" b="0">
                <a:solidFill>
                  <a:srgbClr val="3E4C59"/>
                </a:solidFill>
                <a:latin typeface="Calibri"/>
              </a:rPr>
              <a:t>The test split was used once, for final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0" y="2095500"/>
            <a:ext cx="2540000" cy="1320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D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99200" y="2247900"/>
            <a:ext cx="2159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1F6F66"/>
                </a:solidFill>
                <a:latin typeface="Georgia"/>
              </a:rPr>
              <a:t>11,788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E4C59"/>
                </a:solidFill>
                <a:latin typeface="Calibri"/>
              </a:rPr>
              <a:t>images in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88400" y="2095500"/>
            <a:ext cx="2540000" cy="1320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D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91600" y="2247900"/>
            <a:ext cx="2159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1F6F66"/>
                </a:solidFill>
                <a:latin typeface="Georgia"/>
              </a:rPr>
              <a:t>200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E4C59"/>
                </a:solidFill>
                <a:latin typeface="Calibri"/>
              </a:rPr>
              <a:t>bird species (classes)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0" y="3568700"/>
            <a:ext cx="2540000" cy="1320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D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9200" y="3721100"/>
            <a:ext cx="2159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1F6F66"/>
                </a:solidFill>
                <a:latin typeface="Georgia"/>
              </a:rPr>
              <a:t>5,094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E4C59"/>
                </a:solidFill>
                <a:latin typeface="Calibri"/>
              </a:rPr>
              <a:t>train + 900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88400" y="3568700"/>
            <a:ext cx="2540000" cy="1320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D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1600" y="3721100"/>
            <a:ext cx="2159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1F6F66"/>
                </a:solidFill>
                <a:latin typeface="Georgia"/>
              </a:rPr>
              <a:t>5,794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E4C59"/>
                </a:solidFill>
                <a:latin typeface="Calibri"/>
              </a:rPr>
              <a:t>official test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4516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Bhavyaa Garg · Bhavesh Velluru · Section B, CSE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6400" y="645160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spc="150">
                <a:solidFill>
                  <a:srgbClr val="8A5A0B"/>
                </a:solidFill>
                <a:latin typeface="Calibri"/>
              </a:rPr>
              <a:t>PIPELINE AND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12263A"/>
                </a:solidFill>
                <a:latin typeface="Georgia"/>
              </a:rPr>
              <a:t>Four models, one validation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2527300" cy="3175000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1D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73300"/>
            <a:ext cx="21209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8A5A0B"/>
                </a:solidFill>
                <a:latin typeface="Calibri"/>
              </a:rPr>
              <a:t>1 · CNN BASELINE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b="1">
                <a:solidFill>
                  <a:srgbClr val="12263A"/>
                </a:solidFill>
                <a:latin typeface="Calibri"/>
              </a:rPr>
              <a:t>From scratch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TensorFlow. 3 conv layers (32/64/128), dropout 0.3. Adam 1e-3, 12 epochs.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2500" y="2095500"/>
            <a:ext cx="2527300" cy="3175000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1D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5700" y="2273300"/>
            <a:ext cx="21209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8A5A0B"/>
                </a:solidFill>
                <a:latin typeface="Calibri"/>
              </a:rPr>
              <a:t>2 · MOBILENETV2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b="1">
                <a:solidFill>
                  <a:srgbClr val="12263A"/>
                </a:solidFill>
                <a:latin typeface="Calibri"/>
              </a:rPr>
              <a:t>Frozen transfer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TensorFlow. ImageNet backbone frozen, new head, dropout 0.25. Adam 1e-4, 8 epochs.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95500"/>
            <a:ext cx="2527300" cy="3175000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1D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5400" y="2273300"/>
            <a:ext cx="21209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8A5A0B"/>
                </a:solidFill>
                <a:latin typeface="Calibri"/>
              </a:rPr>
              <a:t>3 · MOBILENETV2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b="1">
                <a:solidFill>
                  <a:srgbClr val="12263A"/>
                </a:solidFill>
                <a:latin typeface="Calibri"/>
              </a:rPr>
              <a:t>Fine-tuned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Stage 1: head at 1e-3 with extra augmentation. Stage 2: top 40 layers unfrozen at 1e-5.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51900" y="2095500"/>
            <a:ext cx="2527300" cy="3175000"/>
          </a:xfrm>
          <a:prstGeom prst="roundRect">
            <a:avLst>
              <a:gd name="adj" fmla="val 402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5100" y="2273300"/>
            <a:ext cx="21209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E3A72F"/>
                </a:solidFill>
                <a:latin typeface="Calibri"/>
              </a:rPr>
              <a:t>4 · DINOV2 (BEST)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b="1">
                <a:solidFill>
                  <a:srgbClr val="F7F3EA"/>
                </a:solidFill>
                <a:latin typeface="Calibri"/>
              </a:rPr>
              <a:t>Frozen + logistic regression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C9D6DF"/>
                </a:solidFill>
                <a:latin typeface="Calibri"/>
              </a:rPr>
              <a:t>PyTorch + scikit-learn. ViT-B/14 features (768-d), flip-averaged. C = 0.01 chosen on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55245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3E4C59"/>
                </a:solidFill>
                <a:latin typeface="Calibri"/>
              </a:rPr>
              <a:t>Shared: 224 × 224 input, seed 42. Hardware: Apple M2 (8 GB); TensorFlow on CPU, PyTorch on the M2 GPU.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4516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Bhavyaa Garg · Bhavesh Velluru · Section B, CSE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6400" y="645160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spc="150">
                <a:solidFill>
                  <a:srgbClr val="8A5A0B"/>
                </a:solidFill>
                <a:latin typeface="Calibri"/>
              </a:rPr>
              <a:t>EXPERIMENTS AND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12263A"/>
                </a:solidFill>
                <a:latin typeface="Georgia"/>
              </a:rPr>
              <a:t>Only DINOv2 reaches the 85% target</a:t>
            </a:r>
          </a:p>
        </p:txBody>
      </p:sp>
      <p:pic>
        <p:nvPicPr>
          <p:cNvPr id="4" name="Picture 3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45" y="1905000"/>
            <a:ext cx="6344708" cy="3460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67600" y="1905000"/>
            <a:ext cx="3911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8A5A0B"/>
                </a:solidFill>
                <a:latin typeface="Calibri"/>
              </a:rPr>
              <a:t>TEST SPLIT, 5,794 IMAGES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67600" y="2209800"/>
          <a:ext cx="3911600" cy="1841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8200"/>
                <a:gridCol w="825500"/>
                <a:gridCol w="977900"/>
              </a:tblGrid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2263A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3500" marR="63500" anchor="ctr">
                    <a:solidFill>
                      <a:srgbClr val="E8E1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63A"/>
                          </a:solidFill>
                          <a:latin typeface="Calibri"/>
                        </a:rPr>
                        <a:t>Top-5</a:t>
                      </a:r>
                    </a:p>
                  </a:txBody>
                  <a:tcPr marL="63500" marR="63500" anchor="ctr">
                    <a:solidFill>
                      <a:srgbClr val="E8E1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63A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marL="63500" marR="63500" anchor="ctr">
                    <a:solidFill>
                      <a:srgbClr val="E8E1C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263A"/>
                          </a:solidFill>
                          <a:latin typeface="Calibri"/>
                        </a:rPr>
                        <a:t>CNN baseline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2263A"/>
                          </a:solidFill>
                          <a:latin typeface="Calibri"/>
                        </a:rPr>
                        <a:t>13.0%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2263A"/>
                          </a:solidFill>
                          <a:latin typeface="Calibri"/>
                        </a:rPr>
                        <a:t>0.018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263A"/>
                          </a:solidFill>
                          <a:latin typeface="Calibri"/>
                        </a:rPr>
                        <a:t>MobileNetV2 transfer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2263A"/>
                          </a:solidFill>
                          <a:latin typeface="Calibri"/>
                        </a:rPr>
                        <a:t>77.2%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2263A"/>
                          </a:solidFill>
                          <a:latin typeface="Calibri"/>
                        </a:rPr>
                        <a:t>0.444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263A"/>
                          </a:solidFill>
                          <a:latin typeface="Calibri"/>
                        </a:rPr>
                        <a:t>MobileNetV2 fine-tuned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2263A"/>
                          </a:solidFill>
                          <a:latin typeface="Calibri"/>
                        </a:rPr>
                        <a:t>85.8%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2263A"/>
                          </a:solidFill>
                          <a:latin typeface="Calibri"/>
                        </a:rPr>
                        <a:t>0.579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2263A"/>
                          </a:solidFill>
                          <a:latin typeface="Calibri"/>
                        </a:rPr>
                        <a:t>DINOv2 + LogReg</a:t>
                      </a:r>
                    </a:p>
                  </a:txBody>
                  <a:tcPr marL="63500" marR="63500"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63A"/>
                          </a:solidFill>
                          <a:latin typeface="Calibri"/>
                        </a:rPr>
                        <a:t>98.7%</a:t>
                      </a:r>
                    </a:p>
                  </a:txBody>
                  <a:tcPr marL="63500" marR="63500"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63A"/>
                          </a:solidFill>
                          <a:latin typeface="Calibri"/>
                        </a:rPr>
                        <a:t>0.897</a:t>
                      </a:r>
                    </a:p>
                  </a:txBody>
                  <a:tcPr marL="63500" marR="63500" anchor="ctr">
                    <a:solidFill>
                      <a:srgbClr val="E3EEE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67600" y="4254500"/>
            <a:ext cx="3911600" cy="14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37160" indent="-13716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200" b="0">
                <a:solidFill>
                  <a:srgbClr val="3E4C59"/>
                </a:solidFill>
                <a:latin typeface="Calibri"/>
              </a:rPr>
              <a:t>Fine-tuned MobileNetV2 overfits: 90.5% train vs 57.5% test</a:t>
            </a:r>
          </a:p>
          <a:p>
            <a:pPr algn="l" marL="137160" indent="-13716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200" b="0">
                <a:solidFill>
                  <a:srgbClr val="3E4C59"/>
                </a:solidFill>
                <a:latin typeface="Calibri"/>
              </a:rPr>
              <a:t>DINOv2 cuts the train–test gap to about 8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64516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Keras train accuracy is logged during training (augmentation and dropout on); chance is 0.5%.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6400" y="645160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spc="150">
                <a:solidFill>
                  <a:srgbClr val="E3A72F"/>
                </a:solidFill>
                <a:latin typeface="Calibri"/>
              </a:rPr>
              <a:t>DEMO AND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F7F3EA"/>
                </a:solidFill>
                <a:latin typeface="Georgia"/>
              </a:rPr>
              <a:t>Look-alike species cause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905000"/>
            <a:ext cx="3810000" cy="273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37160" indent="-13716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200" b="0">
                <a:solidFill>
                  <a:srgbClr val="C9D6DF"/>
                </a:solidFill>
                <a:latin typeface="Calibri"/>
              </a:rPr>
              <a:t>Streamlit app: upload a photo, get the species and top-five scores in under 0.1 s</a:t>
            </a:r>
          </a:p>
          <a:p>
            <a:pPr algn="l" marL="137160" indent="-13716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200" b="0">
                <a:solidFill>
                  <a:srgbClr val="C9D6DF"/>
                </a:solidFill>
                <a:latin typeface="Calibri"/>
              </a:rPr>
              <a:t>Painted Bunting at 92.4%; runners-up are look-alikes (Blue Grosbeak 1.6%, Indigo Bunting 1.2%)</a:t>
            </a:r>
          </a:p>
          <a:p>
            <a:pPr algn="l" marL="137160" indent="-13716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200" b="0">
                <a:solidFill>
                  <a:srgbClr val="C9D6DF"/>
                </a:solidFill>
                <a:latin typeface="Calibri"/>
              </a:rPr>
              <a:t>Main confusions: Long-tailed vs Pomarine Jaeger, Hooded vs Red-breasted Merganser, kingfishers</a:t>
            </a:r>
          </a:p>
          <a:p>
            <a:pPr algn="l" marL="137160" indent="-13716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200" b="0">
                <a:solidFill>
                  <a:srgbClr val="C9D6DF"/>
                </a:solidFill>
                <a:latin typeface="Calibri"/>
              </a:rPr>
              <a:t>Scores are model outputs, not calibrated probabilities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4826000"/>
            <a:ext cx="3810000" cy="1079500"/>
          </a:xfrm>
          <a:prstGeom prst="roundRect">
            <a:avLst>
              <a:gd name="adj" fmla="val 7058"/>
            </a:avLst>
          </a:prstGeom>
          <a:noFill/>
          <a:ln w="19050">
            <a:solidFill>
              <a:srgbClr val="E3A7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9800" y="4902200"/>
            <a:ext cx="3556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7F3EA"/>
                </a:solidFill>
                <a:latin typeface="Calibri"/>
              </a:rPr>
              <a:t>Failure case: </a:t>
            </a:r>
            <a:r>
              <a:rPr sz="1200" b="0">
                <a:solidFill>
                  <a:srgbClr val="F7F3EA"/>
                </a:solidFill>
                <a:latin typeface="Calibri"/>
              </a:rPr>
              <a:t>a blurry in-flight Long-tailed Jaeger is predicted as Pomarine Jaeger (87.9%); the true species is second at 3.3%</a:t>
            </a:r>
          </a:p>
        </p:txBody>
      </p:sp>
      <p:pic>
        <p:nvPicPr>
          <p:cNvPr id="7" name="Picture 6" descr="demo_screen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906841"/>
            <a:ext cx="2400300" cy="3869816"/>
          </a:xfrm>
          <a:prstGeom prst="rect">
            <a:avLst/>
          </a:prstGeom>
        </p:spPr>
      </p:pic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734" y="1905000"/>
            <a:ext cx="3846830" cy="295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2800" y="64516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C2"/>
                </a:solidFill>
                <a:latin typeface="Calibri"/>
              </a:rPr>
              <a:t>Bhavyaa Garg · Bhavesh Velluru · Section B, CSE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6400" y="645160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C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spc="150">
                <a:solidFill>
                  <a:srgbClr val="8A5A0B"/>
                </a:solidFill>
                <a:latin typeface="Calibri"/>
              </a:rPr>
              <a:t>CONCLUSION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12263A"/>
                </a:solidFill>
                <a:latin typeface="Georgia"/>
              </a:rPr>
              <a:t>Feature quality was the limit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05000"/>
            <a:ext cx="5181600" cy="241300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E1D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57400"/>
            <a:ext cx="4775200" cy="215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12263A"/>
                </a:solidFill>
                <a:latin typeface="Calibri"/>
              </a:rPr>
              <a:t>Conclusion</a:t>
            </a:r>
          </a:p>
          <a:p>
            <a:pPr algn="l" marL="137160" indent="-13716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200" b="0">
                <a:solidFill>
                  <a:srgbClr val="3E4C59"/>
                </a:solidFill>
                <a:latin typeface="Calibri"/>
              </a:rPr>
              <a:t>DINOv2 + logistic regression is best: 89.8% test top-1, 98.7% top-5</a:t>
            </a:r>
          </a:p>
          <a:p>
            <a:pPr algn="l" marL="137160" indent="-13716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200" b="0">
                <a:solidFill>
                  <a:srgbClr val="3E4C59"/>
                </a:solidFill>
                <a:latin typeface="Calibri"/>
              </a:rPr>
              <a:t>From scratch, about 25 images per species is too few to learn</a:t>
            </a:r>
          </a:p>
          <a:p>
            <a:pPr algn="l" marL="137160" indent="-13716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200" b="0">
                <a:solidFill>
                  <a:srgbClr val="3E4C59"/>
                </a:solidFill>
                <a:latin typeface="Calibri"/>
              </a:rPr>
              <a:t>Better regularisation of MobileNetV2 alone could not reach 85%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7600" y="1905000"/>
            <a:ext cx="5181600" cy="2413000"/>
          </a:xfrm>
          <a:prstGeom prst="roundRect">
            <a:avLst>
              <a:gd name="adj" fmla="val 421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57400"/>
            <a:ext cx="4775200" cy="215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F7F3EA"/>
                </a:solidFill>
                <a:latin typeface="Calibri"/>
              </a:rPr>
              <a:t>Limitations and next steps</a:t>
            </a:r>
          </a:p>
          <a:p>
            <a:pPr algn="l" marL="137160" indent="-13716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200" b="0">
                <a:solidFill>
                  <a:srgbClr val="C9D6DF"/>
                </a:solidFill>
                <a:latin typeface="Calibri"/>
              </a:rPr>
              <a:t>Pretraining data (ImageNet, LVD-142M) may overlap CUB, so accuracy may be optimistic</a:t>
            </a:r>
          </a:p>
          <a:p>
            <a:pPr algn="l" marL="137160" indent="-13716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200" b="0">
                <a:solidFill>
                  <a:srgbClr val="C9D6DF"/>
                </a:solidFill>
                <a:latin typeface="Calibri"/>
              </a:rPr>
              <a:t>DINOv2 is frozen: we learn the classifier, not a network end to end</a:t>
            </a:r>
          </a:p>
          <a:p>
            <a:pPr algn="l" marL="137160" indent="-13716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200" b="0">
                <a:solidFill>
                  <a:srgbClr val="C9D6DF"/>
                </a:solidFill>
                <a:latin typeface="Calibri"/>
              </a:rPr>
              <a:t>Single run (seed 42); two frameworks; look-alike species still cause errors</a:t>
            </a:r>
          </a:p>
          <a:p>
            <a:pPr algn="l" marL="137160" indent="-13716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200" b="0">
                <a:solidFill>
                  <a:srgbClr val="C9D6DF"/>
                </a:solidFill>
                <a:latin typeface="Calibri"/>
              </a:rPr>
              <a:t>Next: fine-tune DINOv2, crop with CUB bounding boxes, try ViT-L/14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4521200"/>
            <a:ext cx="10566400" cy="16510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1D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4622800"/>
            <a:ext cx="1016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8A5A0B"/>
                </a:solidFill>
                <a:latin typeface="Calibri"/>
              </a:rPr>
              <a:t>INDIVIDUAL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914900"/>
            <a:ext cx="32512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3E4C59"/>
                </a:solidFill>
                <a:latin typeface="Calibri"/>
              </a:rPr>
              <a:t>Bhavesh (CS115): </a:t>
            </a:r>
            <a:r>
              <a:rPr sz="1200" b="0">
                <a:solidFill>
                  <a:srgbClr val="3E4C59"/>
                </a:solidFill>
                <a:latin typeface="Calibri"/>
              </a:rPr>
              <a:t>data pipeline and splits; CNN baseline; training-curve and overfitting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0400" y="4914900"/>
            <a:ext cx="32512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3E4C59"/>
                </a:solidFill>
                <a:latin typeface="Calibri"/>
              </a:rPr>
              <a:t>Bhavyaa (CS116): </a:t>
            </a:r>
            <a:r>
              <a:rPr sz="1200" b="0">
                <a:solidFill>
                  <a:srgbClr val="3E4C59"/>
                </a:solidFill>
                <a:latin typeface="Calibri"/>
              </a:rPr>
              <a:t>DINOv2 feature pipeline and classifier; evaluation and error analysis; Streamlit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0" y="4914900"/>
            <a:ext cx="32512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3E4C59"/>
                </a:solidFill>
                <a:latin typeface="Calibri"/>
              </a:rPr>
              <a:t>Both: </a:t>
            </a:r>
            <a:r>
              <a:rPr sz="1200" b="0">
                <a:solidFill>
                  <a:srgbClr val="3E4C59"/>
                </a:solidFill>
                <a:latin typeface="Calibri"/>
              </a:rPr>
              <a:t>MobileNetV2 transfer learning and fine-tuning; model comparison, report, presentation and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4516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Bhavyaa Garg · Bhavesh Velluru · Section B, CSE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6400" y="645160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